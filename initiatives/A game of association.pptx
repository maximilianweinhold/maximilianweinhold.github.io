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9" clrIdx="0">
    <p:extLst>
      <p:ext uri="{19B8F6BF-5375-455C-9EA6-DF929625EA0E}">
        <p15:presenceInfo xmlns:p15="http://schemas.microsoft.com/office/powerpoint/2012/main" userId="f8b1fd185017ec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4T10:51:39.701" idx="7">
    <p:pos x="10" y="10"/>
    <p:text>Assuming A/B is not the same as B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4T10:36:50.740" idx="5">
    <p:pos x="4627" y="3461"/>
    <p:text>Let us say A may release and absorb a phonon or a photon and still be composable as a natural process</p:text>
    <p:extLst>
      <p:ext uri="{C676402C-5697-4E1C-873F-D02D1690AC5C}">
        <p15:threadingInfo xmlns:p15="http://schemas.microsoft.com/office/powerpoint/2012/main" timeZoneBias="360"/>
      </p:ext>
    </p:extLst>
  </p:cm>
  <p:cm authorId="1" dt="2026-05-14T10:47:00.938" idx="6">
    <p:pos x="5366" y="2846"/>
    <p:text>Cost..Nat with the inverse of A^* is not precise mathematics, I think. The structure of getting A from a cost and a property Cost, Nat might not necessarily be treated as an inverse if the processes A and A inverse do not cover the whole space.</p:text>
    <p:extLst>
      <p:ext uri="{C676402C-5697-4E1C-873F-D02D1690AC5C}">
        <p15:threadingInfo xmlns:p15="http://schemas.microsoft.com/office/powerpoint/2012/main" timeZoneBias="360"/>
      </p:ext>
    </p:extLst>
  </p:cm>
  <p:cm authorId="1" dt="2026-05-14T10:55:04.117" idx="8">
    <p:pos x="10" y="10"/>
    <p:text>Balancing the 0 Cost with a drop below zero in the slide 9 reductive algorithim may treat Cost(0*Nat) =0 as an expectation, with a small negative variation allowed to permit a momentary drop below the positive mass theorem, recovered with our while break.</p:text>
    <p:extLst>
      <p:ext uri="{C676402C-5697-4E1C-873F-D02D1690AC5C}">
        <p15:threadingInfo xmlns:p15="http://schemas.microsoft.com/office/powerpoint/2012/main" timeZoneBias="3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07T14:59:46.948" idx="1">
    <p:pos x="10" y="10"/>
    <p:text/>
    <p:extLst>
      <p:ext uri="{C676402C-5697-4E1C-873F-D02D1690AC5C}">
        <p15:threadingInfo xmlns:p15="http://schemas.microsoft.com/office/powerpoint/2012/main" timeZoneBias="360"/>
      </p:ext>
    </p:extLst>
  </p:cm>
  <p:cm authorId="1" dt="2026-05-07T15:00:42.772" idx="2">
    <p:pos x="10" y="106"/>
    <p:text>A compatibility check call-to preconfigure, a before check overlook to catch a fault, a noticed redundancy or CPU load.</p:text>
    <p:extLst>
      <p:ext uri="{C676402C-5697-4E1C-873F-D02D1690AC5C}">
        <p15:threadingInfo xmlns:p15="http://schemas.microsoft.com/office/powerpoint/2012/main" timeZoneBias="360">
          <p15:parentCm authorId="1" idx="1"/>
        </p15:threadingInfo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1T14:41:08.088" idx="3">
    <p:pos x="10" y="10"/>
    <p:text>Assuming nonlinear resonances exist in the signal of a tethered piezoelectric, such that we may associate non linearities with (0, 1, k) and obtain at least a (read, link, check)</p:text>
    <p:extLst>
      <p:ext uri="{C676402C-5697-4E1C-873F-D02D1690AC5C}">
        <p15:threadingInfo xmlns:p15="http://schemas.microsoft.com/office/powerpoint/2012/main" timeZoneBias="360"/>
      </p:ext>
    </p:extLst>
  </p:cm>
  <p:cm authorId="1" dt="2026-05-11T14:43:17.805" idx="4">
    <p:pos x="106" y="106"/>
    <p:text>The device may usefully have memory, though will not require power. Usefully, we may supply signal to the tethers, as in suspending a quartz on copper wires.</p:text>
    <p:extLst>
      <p:ext uri="{C676402C-5697-4E1C-873F-D02D1690AC5C}">
        <p15:threadingInfo xmlns:p15="http://schemas.microsoft.com/office/powerpoint/2012/main" timeZoneBias="3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 order-ambivalent presentation-dependent allocation of operators to solving vacuum and gravity problems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Maximilian Weinhold</a:t>
            </a:r>
          </a:p>
        </p:txBody>
      </p:sp>
    </p:spTree>
    <p:extLst>
      <p:ext uri="{BB962C8B-B14F-4D97-AF65-F5344CB8AC3E}">
        <p14:creationId xmlns:p14="http://schemas.microsoft.com/office/powerpoint/2010/main" val="1339541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disclaimer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composition of stars is one among many.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Meaningfully to allow predictions we expect messages to appear in time, and with a certain precision. Curiously, only transmission of a message, as against reception or ‘saved’ messages, is needed to fully construct an outer bound.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Conceiving of a black hole as a ‘not-type’ object, it is readily detected in resultant 0 </a:t>
            </a:r>
            <a:r>
              <a:rPr lang="en-US" dirty="0" err="1" smtClean="0"/>
              <a:t>processless</a:t>
            </a:r>
            <a:r>
              <a:rPr lang="en-US" dirty="0" smtClean="0"/>
              <a:t> Process(</a:t>
            </a:r>
            <a:r>
              <a:rPr lang="en-US" dirty="0" err="1" smtClean="0"/>
              <a:t>Bekenstein</a:t>
            </a:r>
            <a:r>
              <a:rPr lang="en-US" dirty="0" smtClean="0"/>
              <a:t>, Hawking, Page), as a </a:t>
            </a:r>
            <a:r>
              <a:rPr lang="en-US" dirty="0" err="1" smtClean="0"/>
              <a:t>processless</a:t>
            </a:r>
            <a:r>
              <a:rPr lang="en-US" dirty="0" smtClean="0"/>
              <a:t> as unable to glean a single program, or scrambled. </a:t>
            </a:r>
          </a:p>
          <a:p>
            <a:pPr marL="0" indent="0">
              <a:buNone/>
            </a:pPr>
            <a:r>
              <a:rPr lang="en-US" dirty="0" smtClean="0"/>
              <a:t>The author provides a means to detect a singularity in code as a construction against a 1 operator.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5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0 ; 1*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interaction defined through its definition. </a:t>
            </a:r>
          </a:p>
          <a:p>
            <a:r>
              <a:rPr lang="en-US" dirty="0" smtClean="0"/>
              <a:t>A limiting reference</a:t>
            </a:r>
          </a:p>
          <a:p>
            <a:r>
              <a:rPr lang="en-US" dirty="0" smtClean="0"/>
              <a:t>An amplifying reference</a:t>
            </a:r>
          </a:p>
          <a:p>
            <a:r>
              <a:rPr lang="en-US" dirty="0" smtClean="0"/>
              <a:t>; * is amplifying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a, b ; A / B ;</a:t>
            </a:r>
            <a:r>
              <a:rPr lang="en-US" dirty="0" smtClean="0"/>
              <a:t>A,B</a:t>
            </a:r>
            <a:r>
              <a:rPr lang="en-US" dirty="0" smtClean="0"/>
              <a:t>/=0 ; A*B / A / B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; * is </a:t>
            </a:r>
            <a:r>
              <a:rPr lang="en-US" dirty="0" smtClean="0"/>
              <a:t>multiplying and neither A nor B are 1.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14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A/b ; A*B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A or B = 0 </a:t>
            </a:r>
          </a:p>
          <a:p>
            <a:r>
              <a:rPr lang="en-US" dirty="0" smtClean="0"/>
              <a:t>A*B determinately 0 .</a:t>
            </a:r>
          </a:p>
          <a:p>
            <a:r>
              <a:rPr lang="en-US" dirty="0" smtClean="0"/>
              <a:t>If A or B = 1</a:t>
            </a:r>
          </a:p>
          <a:p>
            <a:r>
              <a:rPr lang="en-US" dirty="0" smtClean="0"/>
              <a:t>A*B = 1 </a:t>
            </a:r>
            <a:r>
              <a:rPr lang="en-US" dirty="0" err="1" smtClean="0"/>
              <a:t>xor</a:t>
            </a:r>
            <a:r>
              <a:rPr lang="en-US" dirty="0" smtClean="0"/>
              <a:t> (A </a:t>
            </a:r>
            <a:r>
              <a:rPr lang="en-US" dirty="0" err="1" smtClean="0"/>
              <a:t>xor</a:t>
            </a:r>
            <a:r>
              <a:rPr lang="en-US" dirty="0" smtClean="0"/>
              <a:t> B)  </a:t>
            </a:r>
          </a:p>
          <a:p>
            <a:r>
              <a:rPr lang="en-US" dirty="0" smtClean="0"/>
              <a:t>; * is multiplying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2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</a:t>
            </a:r>
            <a:r>
              <a:rPr lang="en-US" dirty="0" smtClean="0"/>
              <a:t>cost(0*A</a:t>
            </a:r>
            <a:r>
              <a:rPr lang="en-US" dirty="0" smtClean="0"/>
              <a:t>*) &gt; 0 </a:t>
            </a:r>
            <a:r>
              <a:rPr lang="en-US" dirty="0" err="1" smtClean="0"/>
              <a:t>xor</a:t>
            </a:r>
            <a:r>
              <a:rPr lang="en-US" dirty="0" smtClean="0"/>
              <a:t> </a:t>
            </a:r>
            <a:r>
              <a:rPr lang="en-US" dirty="0" smtClean="0"/>
              <a:t>Nat</a:t>
            </a:r>
            <a:r>
              <a:rPr lang="en-US" dirty="0" smtClean="0"/>
              <a:t>*(A</a:t>
            </a:r>
            <a:r>
              <a:rPr lang="en-US" dirty="0" smtClean="0"/>
              <a:t>*);A*NAT*(1*)=NAT(A*1) </a:t>
            </a:r>
            <a:r>
              <a:rPr lang="en-US" dirty="0" smtClean="0"/>
              <a:t>== </a:t>
            </a:r>
            <a:r>
              <a:rPr lang="en-US" dirty="0" smtClean="0"/>
              <a:t>TRUE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Computing an amplifying process has a nonzero positive cost even when multiplied with zero, unless and excepting for the condition of a minimally defined ‘scalar’ natural path. </a:t>
                </a:r>
                <a:endParaRPr lang="en-US" dirty="0" smtClean="0"/>
              </a:p>
              <a:p>
                <a:r>
                  <a:rPr lang="en-US" dirty="0" smtClean="0"/>
                  <a:t>As a extension-able corollary in a second </a:t>
                </a:r>
                <a:r>
                  <a:rPr lang="en-US" dirty="0" err="1" smtClean="0"/>
                  <a:t>thermolaw</a:t>
                </a:r>
                <a:r>
                  <a:rPr lang="en-US" dirty="0" smtClean="0"/>
                  <a:t> reading of the positive mass theorem,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𝑁𝐴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dirty="0" smtClean="0"/>
                  <a:t> </a:t>
                </a:r>
                <a:endParaRPr lang="en-US" dirty="0" smtClean="0"/>
              </a:p>
              <a:p>
                <a:r>
                  <a:rPr lang="en-US" dirty="0" smtClean="0"/>
                  <a:t>And an example it seems as a recoilless process.</a:t>
                </a:r>
                <a:endParaRPr lang="en-US" dirty="0" smtClean="0"/>
              </a:p>
              <a:p>
                <a:r>
                  <a:rPr lang="en-US" dirty="0" smtClean="0"/>
                  <a:t>If such a structure </a:t>
                </a:r>
                <a:r>
                  <a:rPr lang="en-US" dirty="0" err="1" smtClean="0"/>
                  <a:t>composable</a:t>
                </a:r>
                <a:r>
                  <a:rPr lang="en-US" dirty="0" smtClean="0"/>
                  <a:t> as </a:t>
                </a:r>
                <a:r>
                  <a:rPr lang="en-US" dirty="0" err="1" smtClean="0"/>
                  <a:t>Cost..Nat</a:t>
                </a:r>
                <a:r>
                  <a:rPr lang="en-US" dirty="0"/>
                  <a:t> </a:t>
                </a:r>
                <a:r>
                  <a:rPr lang="en-US" dirty="0" smtClean="0"/>
                  <a:t>with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 smtClean="0"/>
                  <a:t>exists </a:t>
                </a:r>
                <a:r>
                  <a:rPr lang="en-US" dirty="0" smtClean="0"/>
                  <a:t>it enables the ‘poorly’ typeset title to run true through a solely multiplicative effect for anything </a:t>
                </a:r>
                <a:r>
                  <a:rPr lang="en-US" dirty="0" err="1" smtClean="0"/>
                  <a:t>composable</a:t>
                </a:r>
                <a:r>
                  <a:rPr lang="en-US" dirty="0" smtClean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𝑁𝐴𝑇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∗)</m:t>
                    </m:r>
                  </m:oMath>
                </a14:m>
                <a:r>
                  <a:rPr lang="en-US" dirty="0" smtClean="0"/>
                  <a:t> given the scalar property. </a:t>
                </a:r>
                <a:endParaRPr lang="en-US" dirty="0" smtClean="0"/>
              </a:p>
              <a:p>
                <a:r>
                  <a:rPr lang="en-US" dirty="0" smtClean="0"/>
                  <a:t>; * is multiplying, amplifying, orienting/indexing </a:t>
                </a:r>
                <a:r>
                  <a:rPr lang="en-US" dirty="0" err="1" smtClean="0"/>
                  <a:t>xor</a:t>
                </a:r>
                <a:r>
                  <a:rPr lang="en-US" dirty="0" smtClean="0"/>
                  <a:t> * is multiplying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1818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48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&lt;B*&gt; </a:t>
            </a:r>
            <a:r>
              <a:rPr lang="en-US" dirty="0" smtClean="0"/>
              <a:t>could be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allow some transience of molecular open-form multiplication, when appearing as a multiplicative element missing a partner we create the expectation (average) of the whole(base). The variance around the base, or even it’s distribution, is left to the particulars of *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; * is treated as a probabilistic element.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0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patchy case for Black </a:t>
            </a:r>
            <a:r>
              <a:rPr lang="en-US" dirty="0" smtClean="0"/>
              <a:t>Holes &amp;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Let us say that a black hole counter appears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en-US" dirty="0" smtClean="0"/>
                  <a:t> for a particular 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If we create a reducing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while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 we have an internal, though referenceable object(class) that will </a:t>
                </a:r>
                <a:r>
                  <a:rPr lang="en-US" dirty="0" smtClean="0"/>
                  <a:t>reduce, </a:t>
                </a:r>
                <a:r>
                  <a:rPr lang="en-US" dirty="0" smtClean="0"/>
                  <a:t>at an exact and determined </a:t>
                </a:r>
                <a:r>
                  <a:rPr lang="en-US" dirty="0" smtClean="0"/>
                  <a:t>rate by ‘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≔&gt;</m:t>
                    </m:r>
                  </m:oMath>
                </a14:m>
                <a:r>
                  <a:rPr lang="en-US" dirty="0" smtClean="0"/>
                  <a:t>’ or as computational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 smtClean="0"/>
                  <a:t>which whil</a:t>
                </a:r>
                <a:r>
                  <a:rPr lang="en-US" dirty="0" smtClean="0"/>
                  <a:t>e unstructured as the Page curve does reduce to </a:t>
                </a:r>
                <a:r>
                  <a:rPr lang="en-US" dirty="0" smtClean="0"/>
                  <a:t>the </a:t>
                </a:r>
                <a:r>
                  <a:rPr lang="en-US" dirty="0" smtClean="0"/>
                  <a:t>case of black </a:t>
                </a:r>
                <a:r>
                  <a:rPr lang="en-US" dirty="0" smtClean="0"/>
                  <a:t>holes</a:t>
                </a:r>
                <a:r>
                  <a:rPr lang="en-US" dirty="0" smtClean="0"/>
                  <a:t>; </a:t>
                </a:r>
                <a:endParaRPr lang="en-US" dirty="0" smtClean="0"/>
              </a:p>
              <a:p>
                <a:r>
                  <a:rPr lang="en-US" dirty="0" smtClean="0"/>
                  <a:t>If,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we break 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while</m:t>
                    </m:r>
                  </m:oMath>
                </a14:m>
                <a:r>
                  <a:rPr lang="en-US" dirty="0" smtClean="0"/>
                  <a:t> condition, which we create as redundant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𝑐h𝑒𝑐𝑘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, For </a:t>
                </a:r>
                <a:r>
                  <a:rPr lang="en-US" dirty="0" smtClean="0"/>
                  <a:t>an internal </a:t>
                </a:r>
                <a:r>
                  <a:rPr lang="en-US" dirty="0" smtClean="0"/>
                  <a:t>representation process and </a:t>
                </a:r>
                <a:r>
                  <a:rPr lang="en-US" dirty="0" smtClean="0"/>
                  <a:t>slides 4 and 5</a:t>
                </a:r>
                <a:r>
                  <a:rPr lang="en-US" dirty="0" smtClean="0"/>
                  <a:t> </a:t>
                </a:r>
                <a:r>
                  <a:rPr lang="en-US" dirty="0" smtClean="0"/>
                  <a:t>to be </a:t>
                </a:r>
                <a:r>
                  <a:rPr lang="en-US" dirty="0" smtClean="0"/>
                  <a:t>true (meaningful multiplicative), type must </a:t>
                </a:r>
                <a:r>
                  <a:rPr lang="en-US" dirty="0" smtClean="0"/>
                  <a:t>be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𝑁𝐴𝑇</m:t>
                    </m:r>
                  </m:oMath>
                </a14:m>
                <a:r>
                  <a:rPr lang="en-US" dirty="0" smtClean="0"/>
                  <a:t> process.  </a:t>
                </a:r>
              </a:p>
              <a:p>
                <a:r>
                  <a:rPr lang="en-US" dirty="0" smtClean="0"/>
                  <a:t> </a:t>
                </a:r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2576" r="-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47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&amp; gravity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We place alongside the process a scalar multiplier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 that we place </a:t>
                </a:r>
                <a:r>
                  <a:rPr lang="en-US" dirty="0" err="1" smtClean="0"/>
                  <a:t>as|g</a:t>
                </a:r>
                <a:r>
                  <a:rPr lang="en-US" dirty="0" smtClean="0"/>
                  <a:t>| outside of the cost parameter. Expecting that the function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</m:oMath>
                </a14:m>
                <a:r>
                  <a:rPr lang="en-US" dirty="0" smtClean="0"/>
                  <a:t> does not ‘couple’ readily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, we place it outside a new function, remembering </a:t>
                </a:r>
                <a:r>
                  <a:rPr lang="en-US" dirty="0" err="1" smtClean="0"/>
                  <a:t>halfcurl</a:t>
                </a:r>
                <a:r>
                  <a:rPr lang="en-US" dirty="0" smtClean="0"/>
                  <a:t>*, inverse g.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This, requiring a generator not under an arbitrage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 thus will ‘idealize’ a promotable (step-set)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</m:oMath>
                </a14:m>
                <a:r>
                  <a:rPr lang="en-US" dirty="0" smtClean="0"/>
                  <a:t> , now I think leveraged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 . </a:t>
                </a:r>
              </a:p>
              <a:p>
                <a:endParaRPr lang="en-US" dirty="0"/>
              </a:p>
              <a:p>
                <a:r>
                  <a:rPr lang="en-US" sz="1600" dirty="0" smtClean="0"/>
                  <a:t>*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1400" dirty="0" smtClean="0"/>
                  <a:t>						</a:t>
                </a:r>
                <a:r>
                  <a:rPr lang="en-US" sz="1100" dirty="0" smtClean="0"/>
                  <a:t>Sorry this slide is nonsense. A </a:t>
                </a:r>
                <a:r>
                  <a:rPr lang="en-US" sz="1100" dirty="0" err="1" smtClean="0"/>
                  <a:t>halfcurl</a:t>
                </a:r>
                <a:r>
                  <a:rPr lang="en-US" sz="1100" dirty="0" smtClean="0"/>
                  <a:t> doesn’t exist, and o isn’t a thing.</a:t>
                </a:r>
                <a:endParaRPr lang="en-US" sz="1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05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&amp;Lambda as a calculus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That the author, having no formal training in Lambda calculus recognizes as a </a:t>
            </a:r>
            <a:r>
              <a:rPr lang="en-US" dirty="0" smtClean="0"/>
              <a:t>reference-less </a:t>
            </a:r>
            <a:r>
              <a:rPr lang="en-US" dirty="0" smtClean="0"/>
              <a:t>process ;  as ongoing without respect to an external ref. The variables with an external reference would be referenced in a new Lambda , ad. .</a:t>
            </a:r>
          </a:p>
          <a:p>
            <a:r>
              <a:rPr lang="en-US" dirty="0" smtClean="0"/>
              <a:t>Finally the author, in a shield do lend hand to a </a:t>
            </a:r>
            <a:r>
              <a:rPr lang="en-US" dirty="0" err="1" smtClean="0"/>
              <a:t>lambdaless</a:t>
            </a:r>
            <a:r>
              <a:rPr lang="en-US" dirty="0" smtClean="0"/>
              <a:t> lambda</a:t>
            </a:r>
          </a:p>
          <a:p>
            <a:endParaRPr lang="en-US" dirty="0"/>
          </a:p>
          <a:p>
            <a:r>
              <a:rPr lang="en-US" dirty="0" smtClean="0"/>
              <a:t>(</a:t>
            </a:r>
            <a:r>
              <a:rPr lang="en-US" dirty="0" err="1" smtClean="0"/>
              <a:t>aeueo</a:t>
            </a:r>
            <a:r>
              <a:rPr lang="en-US" dirty="0" smtClean="0"/>
              <a:t>*) where </a:t>
            </a:r>
            <a:r>
              <a:rPr lang="en-US" dirty="0" err="1" smtClean="0"/>
              <a:t>aeueo</a:t>
            </a:r>
            <a:r>
              <a:rPr lang="en-US" dirty="0"/>
              <a:t> </a:t>
            </a:r>
            <a:r>
              <a:rPr lang="en-US" dirty="0" smtClean="0"/>
              <a:t>is referenced se, </a:t>
            </a:r>
            <a:r>
              <a:rPr lang="en-US" dirty="0" err="1" smtClean="0"/>
              <a:t>ka</a:t>
            </a:r>
            <a:r>
              <a:rPr lang="en-US" dirty="0" smtClean="0"/>
              <a:t>, lo, </a:t>
            </a:r>
            <a:r>
              <a:rPr lang="en-US" dirty="0" err="1" smtClean="0"/>
              <a:t>pe</a:t>
            </a:r>
            <a:r>
              <a:rPr lang="en-US" dirty="0" smtClean="0"/>
              <a:t>,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nunce</a:t>
            </a:r>
            <a:endParaRPr lang="en-US" sz="105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when elements, $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po</a:t>
            </a: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pe</a:t>
            </a: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 + lo$ do give us information about a grammar, </a:t>
            </a:r>
          </a:p>
          <a:p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As an arbitrary list  </a:t>
            </a:r>
          </a:p>
          <a:p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We could treat the resultant phonetic background as an 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instantably</a:t>
            </a: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composable</a:t>
            </a: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 picture. Of a </a:t>
            </a:r>
            <a:r>
              <a:rPr lang="en-US" sz="105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phononic</a:t>
            </a:r>
            <a:r>
              <a:rPr lang="en-US" sz="1050" dirty="0" smtClean="0">
                <a:latin typeface="Cambria" panose="02040503050406030204" pitchFamily="18" charset="0"/>
                <a:ea typeface="Cambria" panose="02040503050406030204" pitchFamily="18" charset="0"/>
              </a:rPr>
              <a:t> resonance. </a:t>
            </a:r>
          </a:p>
          <a:p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2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lowchart: Sequential Access Storage 40"/>
          <p:cNvSpPr/>
          <p:nvPr/>
        </p:nvSpPr>
        <p:spPr>
          <a:xfrm>
            <a:off x="-63987" y="344953"/>
            <a:ext cx="2403805" cy="2791942"/>
          </a:xfrm>
          <a:prstGeom prst="flowChartMagneticTap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25470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 rot="954553">
            <a:off x="3030583" y="2751909"/>
            <a:ext cx="1515291" cy="15152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2220686" y="1907177"/>
            <a:ext cx="452845" cy="23600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718895" y="2787322"/>
            <a:ext cx="202981" cy="6991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636147" y="2619750"/>
            <a:ext cx="433775" cy="7751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727451" y="2732461"/>
            <a:ext cx="372815" cy="35472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466011" y="4267200"/>
            <a:ext cx="1258525" cy="94923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153989" y="4445862"/>
            <a:ext cx="661851" cy="75315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75063" y="2084832"/>
            <a:ext cx="1245326" cy="260908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/>
          <p:cNvSpPr/>
          <p:nvPr/>
        </p:nvSpPr>
        <p:spPr>
          <a:xfrm rot="11942597">
            <a:off x="1445623" y="1489166"/>
            <a:ext cx="1637211" cy="79683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51570" y="4238687"/>
            <a:ext cx="1235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strand*</a:t>
            </a:r>
            <a:endParaRPr lang="en-US" dirty="0"/>
          </a:p>
        </p:txBody>
      </p:sp>
      <p:sp>
        <p:nvSpPr>
          <p:cNvPr id="20" name="Diamond 19"/>
          <p:cNvSpPr/>
          <p:nvPr/>
        </p:nvSpPr>
        <p:spPr>
          <a:xfrm rot="19653524">
            <a:off x="3601275" y="2833377"/>
            <a:ext cx="400594" cy="184621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quartz</a:t>
            </a:r>
            <a:endParaRPr lang="en-US" dirty="0"/>
          </a:p>
        </p:txBody>
      </p:sp>
      <p:sp>
        <p:nvSpPr>
          <p:cNvPr id="23" name="Chord 22"/>
          <p:cNvSpPr/>
          <p:nvPr/>
        </p:nvSpPr>
        <p:spPr>
          <a:xfrm>
            <a:off x="2804159" y="1532140"/>
            <a:ext cx="1323703" cy="731809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hord 23"/>
          <p:cNvSpPr/>
          <p:nvPr/>
        </p:nvSpPr>
        <p:spPr>
          <a:xfrm rot="18310937" flipV="1">
            <a:off x="3857401" y="1596182"/>
            <a:ext cx="378237" cy="121029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ord 24"/>
          <p:cNvSpPr/>
          <p:nvPr/>
        </p:nvSpPr>
        <p:spPr>
          <a:xfrm rot="656685">
            <a:off x="3769014" y="2028516"/>
            <a:ext cx="497395" cy="212196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Sequential Access Storage 33"/>
          <p:cNvSpPr/>
          <p:nvPr/>
        </p:nvSpPr>
        <p:spPr>
          <a:xfrm flipH="1">
            <a:off x="2718895" y="2278005"/>
            <a:ext cx="5247065" cy="439866"/>
          </a:xfrm>
          <a:prstGeom prst="flowChartMagneticTap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F=-kx^2</a:t>
            </a:r>
            <a:endParaRPr lang="en-US" dirty="0"/>
          </a:p>
        </p:txBody>
      </p:sp>
      <p:sp>
        <p:nvSpPr>
          <p:cNvPr id="36" name="Left-Right Arrow 35"/>
          <p:cNvSpPr/>
          <p:nvPr/>
        </p:nvSpPr>
        <p:spPr>
          <a:xfrm>
            <a:off x="2471999" y="2735421"/>
            <a:ext cx="449362" cy="12017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936490" y="1769591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Floq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6350175" y="223373"/>
            <a:ext cx="51091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Floquent</a:t>
            </a:r>
            <a:r>
              <a:rPr lang="en-US" dirty="0" smtClean="0"/>
              <a:t> generates compressive forces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Quartz - a piezoelectric read-and-response </a:t>
            </a:r>
            <a:r>
              <a:rPr lang="en-US" i="1" dirty="0" smtClean="0"/>
              <a:t>transduction!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/>
              <a:t>The strand, where gases escape to a piezoelectric read.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/>
              <a:t>Tether free-floating low drag monitoring station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/>
              <a:t>Second tether optional as in pipe network. 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863840" y="3087188"/>
            <a:ext cx="3766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technical device contraption service process upstream referred to by the machine is given a lightweight immediate notice</a:t>
            </a:r>
            <a:endParaRPr lang="en-US" dirty="0"/>
          </a:p>
        </p:txBody>
      </p:sp>
      <p:sp>
        <p:nvSpPr>
          <p:cNvPr id="43" name="Rounded Rectangle 42"/>
          <p:cNvSpPr/>
          <p:nvPr/>
        </p:nvSpPr>
        <p:spPr>
          <a:xfrm rot="16200000">
            <a:off x="4023511" y="4291358"/>
            <a:ext cx="452845" cy="2360023"/>
          </a:xfrm>
          <a:prstGeom prst="roundRect">
            <a:avLst>
              <a:gd name="adj" fmla="val 26565"/>
            </a:avLst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8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172</TotalTime>
  <Words>602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Cambria</vt:lpstr>
      <vt:lpstr>Cambria Math</vt:lpstr>
      <vt:lpstr>Tw Cen MT</vt:lpstr>
      <vt:lpstr>Tw Cen MT Condensed</vt:lpstr>
      <vt:lpstr>Wingdings 3</vt:lpstr>
      <vt:lpstr>Integral</vt:lpstr>
      <vt:lpstr>An order-ambivalent presentation-dependent allocation of operators to solving vacuum and gravity problems</vt:lpstr>
      <vt:lpstr>A disclaimer</vt:lpstr>
      <vt:lpstr>* ; 0 ; 1*</vt:lpstr>
      <vt:lpstr>* ; a, b ; A / B ;A,B/=0 ; A*B / A / B </vt:lpstr>
      <vt:lpstr>* ; A/b ; A*B</vt:lpstr>
      <vt:lpstr>* ; cost(0*A*) &gt; 0 xor Nat*(A*);A*NAT*(1*)=NAT(A*1) == TRUE</vt:lpstr>
      <vt:lpstr>&lt;B*&gt; could be B</vt:lpstr>
      <vt:lpstr>The patchy case for Black Holes &amp;</vt:lpstr>
      <vt:lpstr>&amp; gravity</vt:lpstr>
      <vt:lpstr>&amp;Lambda as a calculus</vt:lpstr>
      <vt:lpstr>The machine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order-ambivalent allocation of operators to solving vacuum and gravity problems</dc:title>
  <dc:creator>Microsoft account</dc:creator>
  <cp:lastModifiedBy>Microsoft account</cp:lastModifiedBy>
  <cp:revision>21</cp:revision>
  <dcterms:created xsi:type="dcterms:W3CDTF">2026-05-07T17:25:25Z</dcterms:created>
  <dcterms:modified xsi:type="dcterms:W3CDTF">2026-05-14T17:12:53Z</dcterms:modified>
</cp:coreProperties>
</file>